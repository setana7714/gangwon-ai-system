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dmark_1line" descr="assets/wordmark_1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458230" cy="3108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0" y="42976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2026학년도</a:t>
            </a:r>
            <a:endParaRPr lang="en-US" sz="1200" dirty="0"/>
          </a:p>
        </p:txBody>
      </p:sp>
      <p:pic>
        <p:nvPicPr>
          <p:cNvPr id="4" name="emblem_color" descr="assets/emblem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097" y="1051560"/>
            <a:ext cx="2013502" cy="2148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0" y="3474720"/>
            <a:ext cx="9445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제목을 입력하세요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2286000" y="4343400"/>
            <a:ext cx="7616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부제목 또는 보고 개요를 입력하세요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528920" y="4956048"/>
            <a:ext cx="91440" cy="91440"/>
          </a:xfrm>
          <a:prstGeom prst="ellipse">
            <a:avLst/>
          </a:prstGeom>
          <a:solidFill>
            <a:srgbClr val="50B5EB"/>
          </a:solidFill>
          <a:ln/>
        </p:spPr>
      </p:sp>
      <p:sp>
        <p:nvSpPr>
          <p:cNvPr id="8" name="Shape 4"/>
          <p:cNvSpPr/>
          <p:nvPr/>
        </p:nvSpPr>
        <p:spPr>
          <a:xfrm>
            <a:off x="5766664" y="4956048"/>
            <a:ext cx="91440" cy="91440"/>
          </a:xfrm>
          <a:prstGeom prst="ellipse">
            <a:avLst/>
          </a:prstGeom>
          <a:solidFill>
            <a:srgbClr val="5C64B7"/>
          </a:solidFill>
          <a:ln/>
        </p:spPr>
      </p:sp>
      <p:sp>
        <p:nvSpPr>
          <p:cNvPr id="9" name="Shape 5"/>
          <p:cNvSpPr/>
          <p:nvPr/>
        </p:nvSpPr>
        <p:spPr>
          <a:xfrm>
            <a:off x="6004408" y="4956048"/>
            <a:ext cx="91440" cy="91440"/>
          </a:xfrm>
          <a:prstGeom prst="ellipse">
            <a:avLst/>
          </a:prstGeom>
          <a:solidFill>
            <a:srgbClr val="F132A3"/>
          </a:solidFill>
          <a:ln/>
        </p:spPr>
      </p:sp>
      <p:sp>
        <p:nvSpPr>
          <p:cNvPr id="10" name="Shape 6"/>
          <p:cNvSpPr/>
          <p:nvPr/>
        </p:nvSpPr>
        <p:spPr>
          <a:xfrm>
            <a:off x="6242152" y="4956048"/>
            <a:ext cx="91440" cy="91440"/>
          </a:xfrm>
          <a:prstGeom prst="ellipse">
            <a:avLst/>
          </a:prstGeom>
          <a:solidFill>
            <a:srgbClr val="F46717"/>
          </a:solidFill>
          <a:ln/>
        </p:spPr>
      </p:sp>
      <p:sp>
        <p:nvSpPr>
          <p:cNvPr id="11" name="Shape 7"/>
          <p:cNvSpPr/>
          <p:nvPr/>
        </p:nvSpPr>
        <p:spPr>
          <a:xfrm>
            <a:off x="6479896" y="4956048"/>
            <a:ext cx="91440" cy="91440"/>
          </a:xfrm>
          <a:prstGeom prst="ellipse">
            <a:avLst/>
          </a:prstGeom>
          <a:solidFill>
            <a:srgbClr val="FAB10A"/>
          </a:solidFill>
          <a:ln/>
        </p:spPr>
      </p:sp>
      <p:sp>
        <p:nvSpPr>
          <p:cNvPr id="12" name="Text 8"/>
          <p:cNvSpPr/>
          <p:nvPr/>
        </p:nvSpPr>
        <p:spPr>
          <a:xfrm>
            <a:off x="2898648" y="53492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27448" y="5779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2026. 00. 00.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49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1207008"/>
            <a:ext cx="4443984" cy="44439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symbol_centered" descr="assets/symbol_cente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1874520"/>
            <a:ext cx="3108960" cy="3108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554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모두가 </a:t>
            </a:r>
            <a:pPr indent="0" marL="0">
              <a:buNone/>
            </a:pPr>
            <a:r>
              <a:rPr lang="en-US" sz="1700" b="1" spc="200" kern="0" dirty="0">
                <a:solidFill>
                  <a:srgbClr val="FAB1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</a:t>
            </a:r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강원교육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41248" y="214884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제목을 입력하세요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68680" y="3794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부제목 또는 발표 개요를 입력하세요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68680" y="5074920"/>
            <a:ext cx="411480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507492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 문화체육특수교육과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12080" y="50749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2026. 00. 00.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5449824" cy="1371600"/>
          </a:xfrm>
          <a:prstGeom prst="roundRect">
            <a:avLst>
              <a:gd name="adj" fmla="val 8000"/>
            </a:avLst>
          </a:prstGeom>
          <a:solidFill>
            <a:srgbClr val="EDF7FD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2093976"/>
            <a:ext cx="658368" cy="658368"/>
          </a:xfrm>
          <a:prstGeom prst="ellipse">
            <a:avLst/>
          </a:prstGeom>
          <a:solidFill>
            <a:srgbClr val="50B5E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939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73352" y="1975104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 및 근거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73352" y="2414016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법령·기본계획·전년도 성과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81928" y="1737360"/>
            <a:ext cx="5449824" cy="1371600"/>
          </a:xfrm>
          <a:prstGeom prst="roundRect">
            <a:avLst>
              <a:gd name="adj" fmla="val 8000"/>
            </a:avLst>
          </a:prstGeom>
          <a:solidFill>
            <a:srgbClr val="EFF0F8"/>
          </a:solidFill>
          <a:ln/>
        </p:spPr>
      </p:sp>
      <p:sp>
        <p:nvSpPr>
          <p:cNvPr id="11" name="Shape 8"/>
          <p:cNvSpPr/>
          <p:nvPr/>
        </p:nvSpPr>
        <p:spPr>
          <a:xfrm>
            <a:off x="6556248" y="2093976"/>
            <a:ext cx="658368" cy="658368"/>
          </a:xfrm>
          <a:prstGeom prst="ellipse">
            <a:avLst/>
          </a:prstGeom>
          <a:solidFill>
            <a:srgbClr val="5C64B7"/>
          </a:solidFill>
          <a:ln/>
        </p:spPr>
      </p:sp>
      <p:sp>
        <p:nvSpPr>
          <p:cNvPr id="12" name="Text 9"/>
          <p:cNvSpPr/>
          <p:nvPr/>
        </p:nvSpPr>
        <p:spPr>
          <a:xfrm>
            <a:off x="6556248" y="20939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52360" y="1975104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및 진단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452360" y="2414016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지표·실태 분석·시사점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401568"/>
            <a:ext cx="5449824" cy="1371600"/>
          </a:xfrm>
          <a:prstGeom prst="roundRect">
            <a:avLst>
              <a:gd name="adj" fmla="val 8000"/>
            </a:avLst>
          </a:prstGeom>
          <a:solidFill>
            <a:srgbClr val="FEEBF6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3758184"/>
            <a:ext cx="658368" cy="658368"/>
          </a:xfrm>
          <a:prstGeom prst="ellipse">
            <a:avLst/>
          </a:prstGeom>
          <a:solidFill>
            <a:srgbClr val="F132A3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7581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673352" y="3639312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목표 및 방향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673352" y="4078224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체계·중점 과제 설정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81928" y="3401568"/>
            <a:ext cx="5449824" cy="1371600"/>
          </a:xfrm>
          <a:prstGeom prst="roundRect">
            <a:avLst>
              <a:gd name="adj" fmla="val 8000"/>
            </a:avLst>
          </a:prstGeom>
          <a:solidFill>
            <a:srgbClr val="FEEFE7"/>
          </a:solidFill>
          <a:ln/>
        </p:spPr>
      </p:sp>
      <p:sp>
        <p:nvSpPr>
          <p:cNvPr id="21" name="Shape 18"/>
          <p:cNvSpPr/>
          <p:nvPr/>
        </p:nvSpPr>
        <p:spPr>
          <a:xfrm>
            <a:off x="6556248" y="3758184"/>
            <a:ext cx="658368" cy="658368"/>
          </a:xfrm>
          <a:prstGeom prst="ellipse">
            <a:avLst/>
          </a:prstGeom>
          <a:solidFill>
            <a:srgbClr val="F46717"/>
          </a:solidFill>
          <a:ln/>
        </p:spPr>
      </p:sp>
      <p:sp>
        <p:nvSpPr>
          <p:cNvPr id="22" name="Text 19"/>
          <p:cNvSpPr/>
          <p:nvPr/>
        </p:nvSpPr>
        <p:spPr>
          <a:xfrm>
            <a:off x="6556248" y="37581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452360" y="3639312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추진 계획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7452360" y="4078224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과제별 추진 내용·일정·방법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5065776"/>
            <a:ext cx="5449824" cy="1371600"/>
          </a:xfrm>
          <a:prstGeom prst="roundRect">
            <a:avLst>
              <a:gd name="adj" fmla="val 8000"/>
            </a:avLst>
          </a:prstGeom>
          <a:solidFill>
            <a:srgbClr val="FEF7E6"/>
          </a:solidFill>
          <a:ln/>
        </p:spPr>
      </p:sp>
      <p:sp>
        <p:nvSpPr>
          <p:cNvPr id="26" name="Shape 23"/>
          <p:cNvSpPr/>
          <p:nvPr/>
        </p:nvSpPr>
        <p:spPr>
          <a:xfrm>
            <a:off x="777240" y="5422392"/>
            <a:ext cx="658368" cy="658368"/>
          </a:xfrm>
          <a:prstGeom prst="ellipse">
            <a:avLst/>
          </a:prstGeom>
          <a:solidFill>
            <a:srgbClr val="FAB10A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5422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673352" y="5303520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행정사항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73352" y="574243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예산·협조 사항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81928" y="5065776"/>
            <a:ext cx="5449824" cy="1371600"/>
          </a:xfrm>
          <a:prstGeom prst="roundRect">
            <a:avLst>
              <a:gd name="adj" fmla="val 8000"/>
            </a:avLst>
          </a:prstGeom>
          <a:solidFill>
            <a:srgbClr val="E6EDF1"/>
          </a:solidFill>
          <a:ln/>
        </p:spPr>
      </p:sp>
      <p:sp>
        <p:nvSpPr>
          <p:cNvPr id="31" name="Shape 28"/>
          <p:cNvSpPr/>
          <p:nvPr/>
        </p:nvSpPr>
        <p:spPr>
          <a:xfrm>
            <a:off x="6556248" y="5422392"/>
            <a:ext cx="658368" cy="658368"/>
          </a:xfrm>
          <a:prstGeom prst="ellipse">
            <a:avLst/>
          </a:prstGeom>
          <a:solidFill>
            <a:srgbClr val="064976"/>
          </a:solidFill>
          <a:ln/>
        </p:spPr>
      </p:sp>
      <p:sp>
        <p:nvSpPr>
          <p:cNvPr id="32" name="Text 29"/>
          <p:cNvSpPr/>
          <p:nvPr/>
        </p:nvSpPr>
        <p:spPr>
          <a:xfrm>
            <a:off x="6556248" y="5422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452360" y="5303520"/>
            <a:ext cx="4078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7452360" y="5742432"/>
            <a:ext cx="4078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정성·정량 기대 성과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7315200" cy="7315200"/>
          </a:xfrm>
          <a:prstGeom prst="ellipse">
            <a:avLst/>
          </a:prstGeom>
          <a:solidFill>
            <a:srgbClr val="EDF7FD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4023360"/>
            <a:ext cx="4023360" cy="4023360"/>
          </a:xfrm>
          <a:prstGeom prst="ellipse">
            <a:avLst/>
          </a:prstGeom>
          <a:solidFill>
            <a:srgbClr val="FEF7E6"/>
          </a:solidFill>
          <a:ln/>
        </p:spPr>
      </p:sp>
      <p:pic>
        <p:nvPicPr>
          <p:cNvPr id="4" name="symbol" descr="assets/symbo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965960"/>
            <a:ext cx="2136161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9164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50B5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800" dirty="0"/>
          </a:p>
        </p:txBody>
      </p:sp>
      <p:sp>
        <p:nvSpPr>
          <p:cNvPr id="6" name="Text 3"/>
          <p:cNvSpPr/>
          <p:nvPr/>
        </p:nvSpPr>
        <p:spPr>
          <a:xfrm>
            <a:off x="868680" y="32004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 및 근거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86968" y="40233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요약 문장을 입력하세요. 해당 장에서 다룰 핵심 내용을 한 줄로 안내합니다.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96112" y="4709160"/>
            <a:ext cx="82296" cy="82296"/>
          </a:xfrm>
          <a:prstGeom prst="ellipse">
            <a:avLst/>
          </a:prstGeom>
          <a:solidFill>
            <a:srgbClr val="50B5EB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4709160"/>
            <a:ext cx="82296" cy="82296"/>
          </a:xfrm>
          <a:prstGeom prst="ellipse">
            <a:avLst/>
          </a:prstGeom>
          <a:solidFill>
            <a:srgbClr val="5C64B7"/>
          </a:solidFill>
          <a:ln/>
        </p:spPr>
      </p:sp>
      <p:sp>
        <p:nvSpPr>
          <p:cNvPr id="10" name="Shape 7"/>
          <p:cNvSpPr/>
          <p:nvPr/>
        </p:nvSpPr>
        <p:spPr>
          <a:xfrm>
            <a:off x="1335024" y="4709160"/>
            <a:ext cx="82296" cy="82296"/>
          </a:xfrm>
          <a:prstGeom prst="ellipse">
            <a:avLst/>
          </a:prstGeom>
          <a:solidFill>
            <a:srgbClr val="F132A3"/>
          </a:solidFill>
          <a:ln/>
        </p:spPr>
      </p:sp>
      <p:sp>
        <p:nvSpPr>
          <p:cNvPr id="11" name="Shape 8"/>
          <p:cNvSpPr/>
          <p:nvPr/>
        </p:nvSpPr>
        <p:spPr>
          <a:xfrm>
            <a:off x="1554480" y="4709160"/>
            <a:ext cx="82296" cy="82296"/>
          </a:xfrm>
          <a:prstGeom prst="ellipse">
            <a:avLst/>
          </a:prstGeom>
          <a:solidFill>
            <a:srgbClr val="F46717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4709160"/>
            <a:ext cx="82296" cy="82296"/>
          </a:xfrm>
          <a:prstGeom prst="ellipse">
            <a:avLst/>
          </a:prstGeom>
          <a:solidFill>
            <a:srgbClr val="FAB10A"/>
          </a:solidFill>
          <a:ln/>
        </p:spPr>
      </p:sp>
      <p:sp>
        <p:nvSpPr>
          <p:cNvPr id="13" name="Text 10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추진 배경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1208" y="131673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근거와 추진 필요성을 개조식으로 정리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810512"/>
            <a:ext cx="274320" cy="274320"/>
          </a:xfrm>
          <a:prstGeom prst="ellipse">
            <a:avLst/>
          </a:prstGeom>
          <a:solidFill>
            <a:srgbClr val="50B5EB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17830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근거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185416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1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「문화예술교육 지원법」 제○조 및 동법 시행령</a:t>
            </a:r>
            <a:endParaRPr lang="en-US" sz="1250" dirty="0"/>
          </a:p>
          <a:p>
            <a:pPr marL="177800" indent="-177800">
              <a:lnSpc>
                <a:spcPts val="21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강원교육 기본계획 ○○ 영역 ○○ 과제</a:t>
            </a:r>
            <a:endParaRPr lang="en-US" sz="1250" dirty="0"/>
          </a:p>
          <a:p>
            <a:pPr marL="177800" indent="-177800">
              <a:lnSpc>
                <a:spcPts val="21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○○○○ 운영 계획(문화체육특수교육과-0000, 2026.00.00.)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456432"/>
            <a:ext cx="274320" cy="274320"/>
          </a:xfrm>
          <a:prstGeom prst="ellipse">
            <a:avLst/>
          </a:prstGeom>
          <a:solidFill>
            <a:srgbClr val="5C64B7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342900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필요성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3831336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1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예술교육 격차 해소 및 보편적 문화 향유 기회 확대 필요</a:t>
            </a:r>
            <a:endParaRPr lang="en-US" sz="1250" dirty="0"/>
          </a:p>
          <a:p>
            <a:pPr marL="177800" indent="-177800">
              <a:lnSpc>
                <a:spcPts val="21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간 교육 여건 차이를 고려한 맞춤형 지원 체계 요구</a:t>
            </a:r>
            <a:endParaRPr lang="en-US" sz="1250" dirty="0"/>
          </a:p>
          <a:p>
            <a:pPr marL="177800" indent="-177800">
              <a:lnSpc>
                <a:spcPts val="21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학생·교원 수요 조사 결과 ○○ 분야 지원 확대 요청 다수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26680" y="1783080"/>
            <a:ext cx="3931920" cy="4160520"/>
          </a:xfrm>
          <a:prstGeom prst="roundRect">
            <a:avLst>
              <a:gd name="adj" fmla="val 3256"/>
            </a:avLst>
          </a:prstGeom>
          <a:solidFill>
            <a:srgbClr val="064976"/>
          </a:solidFill>
          <a:ln/>
        </p:spPr>
      </p:sp>
      <p:sp>
        <p:nvSpPr>
          <p:cNvPr id="13" name="Text 10"/>
          <p:cNvSpPr/>
          <p:nvPr/>
        </p:nvSpPr>
        <p:spPr>
          <a:xfrm>
            <a:off x="809244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3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목표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9244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AB1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212교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809244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도내 지원 대상 학교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92440" y="3977640"/>
            <a:ext cx="3108960" cy="0"/>
          </a:xfrm>
          <a:prstGeom prst="line">
            <a:avLst/>
          </a:prstGeom>
          <a:noFill/>
          <a:ln w="12700">
            <a:solidFill>
              <a:srgbClr val="2A6B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92440" y="4206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일상이 예술이 되는 교실,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예술로 깊어지는 강원교육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92440" y="52578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3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모두가 빛나는 강원교육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현황 진단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 및 개선 방향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1208" y="131673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상황과 개선 방향을 좌우로 대비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5074920" cy="4160520"/>
          </a:xfrm>
          <a:prstGeom prst="roundRect">
            <a:avLst>
              <a:gd name="adj" fmla="val 3077"/>
            </a:avLst>
          </a:prstGeom>
          <a:solidFill>
            <a:srgbClr val="E6EDF1"/>
          </a:solidFill>
          <a:ln/>
        </p:spPr>
      </p:sp>
      <p:sp>
        <p:nvSpPr>
          <p:cNvPr id="7" name="Shape 4"/>
          <p:cNvSpPr/>
          <p:nvPr/>
        </p:nvSpPr>
        <p:spPr>
          <a:xfrm>
            <a:off x="886968" y="2157984"/>
            <a:ext cx="237744" cy="237744"/>
          </a:xfrm>
          <a:prstGeom prst="ellipse">
            <a:avLst/>
          </a:prstGeom>
          <a:solidFill>
            <a:srgbClr val="A7A6A6"/>
          </a:solidFill>
          <a:ln/>
        </p:spPr>
      </p:sp>
      <p:sp>
        <p:nvSpPr>
          <p:cNvPr id="8" name="Text 5"/>
          <p:cNvSpPr/>
          <p:nvPr/>
        </p:nvSpPr>
        <p:spPr>
          <a:xfrm>
            <a:off x="1252728" y="2084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및 한계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6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지역별 예술강사 배치 편차 발생</a:t>
            </a:r>
            <a:endParaRPr lang="en-US" sz="1250" dirty="0"/>
          </a:p>
          <a:p>
            <a:pPr marL="177800" indent="-177800">
              <a:lnSpc>
                <a:spcPts val="26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학교 프로그램 선택권 제한</a:t>
            </a:r>
            <a:endParaRPr lang="en-US" sz="1250" dirty="0"/>
          </a:p>
          <a:p>
            <a:pPr marL="177800" indent="-177800">
              <a:lnSpc>
                <a:spcPts val="26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악기·기자재 노후화 및 유휴 자원 방치</a:t>
            </a:r>
            <a:endParaRPr lang="en-US" sz="1250" dirty="0"/>
          </a:p>
          <a:p>
            <a:pPr marL="177800" indent="-177800">
              <a:lnSpc>
                <a:spcPts val="26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관리 지표 부재로 환류 곤란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1112" y="1783080"/>
            <a:ext cx="5074920" cy="4160520"/>
          </a:xfrm>
          <a:prstGeom prst="roundRect">
            <a:avLst>
              <a:gd name="adj" fmla="val 3077"/>
            </a:avLst>
          </a:prstGeom>
          <a:solidFill>
            <a:srgbClr val="ED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6995160" y="2157984"/>
            <a:ext cx="237744" cy="237744"/>
          </a:xfrm>
          <a:prstGeom prst="ellipse">
            <a:avLst/>
          </a:prstGeom>
          <a:solidFill>
            <a:srgbClr val="50B5EB"/>
          </a:solidFill>
          <a:ln/>
        </p:spPr>
      </p:sp>
      <p:sp>
        <p:nvSpPr>
          <p:cNvPr id="12" name="Text 9"/>
          <p:cNvSpPr/>
          <p:nvPr/>
        </p:nvSpPr>
        <p:spPr>
          <a:xfrm>
            <a:off x="7360920" y="2084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022592" y="274320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26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권역별 순회 지원 체계 구축</a:t>
            </a:r>
            <a:endParaRPr lang="en-US" sz="1250" dirty="0"/>
          </a:p>
          <a:p>
            <a:pPr marL="177800" indent="-177800">
              <a:lnSpc>
                <a:spcPts val="26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찾아가는 예술교육 프로그램 확대</a:t>
            </a:r>
            <a:endParaRPr lang="en-US" sz="1250" dirty="0"/>
          </a:p>
          <a:p>
            <a:pPr marL="177800" indent="-177800">
              <a:lnSpc>
                <a:spcPts val="26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악기뱅크 운영으로 자원 재배치</a:t>
            </a:r>
            <a:endParaRPr lang="en-US" sz="1250" dirty="0"/>
          </a:p>
          <a:p>
            <a:pPr marL="177800" indent="-177800">
              <a:lnSpc>
                <a:spcPts val="2600"/>
              </a:lnSpc>
              <a:buSzPct val="100000"/>
              <a:buChar char="∙"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만족도·참여율 기반 성과 지표 도입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742432" y="3520440"/>
            <a:ext cx="713232" cy="658368"/>
          </a:xfrm>
          <a:prstGeom prst="chevron">
            <a:avLst/>
          </a:prstGeom>
          <a:solidFill>
            <a:srgbClr val="50B5EB"/>
          </a:solidFill>
          <a:ln/>
        </p:spPr>
      </p:sp>
      <p:sp>
        <p:nvSpPr>
          <p:cNvPr id="15" name="Text 12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추진 목표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중점 추진 과제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1208" y="131673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핵심 과제 중심 구성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3529584" cy="4160520"/>
          </a:xfrm>
          <a:prstGeom prst="roundRect">
            <a:avLst>
              <a:gd name="adj" fmla="val 3627"/>
            </a:avLst>
          </a:prstGeom>
          <a:solidFill>
            <a:srgbClr val="EDF7FD"/>
          </a:solidFill>
          <a:ln/>
        </p:spPr>
      </p:sp>
      <p:sp>
        <p:nvSpPr>
          <p:cNvPr id="7" name="Shape 4"/>
          <p:cNvSpPr/>
          <p:nvPr/>
        </p:nvSpPr>
        <p:spPr>
          <a:xfrm>
            <a:off x="850392" y="2139696"/>
            <a:ext cx="603504" cy="603504"/>
          </a:xfrm>
          <a:prstGeom prst="ellipse">
            <a:avLst/>
          </a:prstGeom>
          <a:solidFill>
            <a:srgbClr val="50B5EB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" y="21396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0392" y="29260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예술교육 내실화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8680" y="3749040"/>
            <a:ext cx="281635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2300"/>
              </a:lnSpc>
              <a:buSzPct val="100000"/>
              <a:buChar char="∙"/>
            </a:pPr>
            <a:r>
              <a:rPr lang="en-US" sz="11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예술강사 지원 212교 운영</a:t>
            </a:r>
            <a:endParaRPr lang="en-US" sz="1150" dirty="0"/>
          </a:p>
          <a:p>
            <a:pPr marL="152400" indent="-152400">
              <a:lnSpc>
                <a:spcPts val="2300"/>
              </a:lnSpc>
              <a:buSzPct val="100000"/>
              <a:buChar char="∙"/>
            </a:pPr>
            <a:r>
              <a:rPr lang="en-US" sz="11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 연계 프로그램 개발</a:t>
            </a:r>
            <a:endParaRPr lang="en-US" sz="1150" dirty="0"/>
          </a:p>
          <a:p>
            <a:pPr marL="152400" indent="-152400">
              <a:lnSpc>
                <a:spcPts val="2300"/>
              </a:lnSpc>
              <a:buSzPct val="100000"/>
              <a:buChar char="∙"/>
            </a:pPr>
            <a:r>
              <a:rPr lang="en-US" sz="11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교원 역량 강화 연수 운영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52544" y="1783080"/>
            <a:ext cx="3529584" cy="4160520"/>
          </a:xfrm>
          <a:prstGeom prst="roundRect">
            <a:avLst>
              <a:gd name="adj" fmla="val 3627"/>
            </a:avLst>
          </a:prstGeom>
          <a:solidFill>
            <a:srgbClr val="EFF0F8"/>
          </a:solidFill>
          <a:ln/>
        </p:spPr>
      </p:sp>
      <p:sp>
        <p:nvSpPr>
          <p:cNvPr id="12" name="Shape 9"/>
          <p:cNvSpPr/>
          <p:nvPr/>
        </p:nvSpPr>
        <p:spPr>
          <a:xfrm>
            <a:off x="4700016" y="2139696"/>
            <a:ext cx="603504" cy="603504"/>
          </a:xfrm>
          <a:prstGeom prst="ellipse">
            <a:avLst/>
          </a:prstGeom>
          <a:solidFill>
            <a:srgbClr val="5C64B7"/>
          </a:solidFill>
          <a:ln/>
        </p:spPr>
      </p:sp>
      <p:sp>
        <p:nvSpPr>
          <p:cNvPr id="13" name="Text 10"/>
          <p:cNvSpPr/>
          <p:nvPr/>
        </p:nvSpPr>
        <p:spPr>
          <a:xfrm>
            <a:off x="4700016" y="21396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700016" y="29260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향유 기회 확대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718304" y="3749040"/>
            <a:ext cx="281635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2300"/>
              </a:lnSpc>
              <a:buSzPct val="100000"/>
              <a:buChar char="∙"/>
            </a:pPr>
            <a:r>
              <a:rPr lang="en-US" sz="11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찾아가는 공연·전시 운영</a:t>
            </a:r>
            <a:endParaRPr lang="en-US" sz="1150" dirty="0"/>
          </a:p>
          <a:p>
            <a:pPr marL="152400" indent="-152400">
              <a:lnSpc>
                <a:spcPts val="2300"/>
              </a:lnSpc>
              <a:buSzPct val="100000"/>
              <a:buChar char="∙"/>
            </a:pPr>
            <a:r>
              <a:rPr lang="en-US" sz="11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예술 동아리 지원</a:t>
            </a:r>
            <a:endParaRPr lang="en-US" sz="1150" dirty="0"/>
          </a:p>
          <a:p>
            <a:pPr marL="152400" indent="-152400">
              <a:lnSpc>
                <a:spcPts val="2300"/>
              </a:lnSpc>
              <a:buSzPct val="100000"/>
              <a:buChar char="∙"/>
            </a:pPr>
            <a:r>
              <a:rPr lang="en-US" sz="11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문화기관 연계 체험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02168" y="1783080"/>
            <a:ext cx="3529584" cy="4160520"/>
          </a:xfrm>
          <a:prstGeom prst="roundRect">
            <a:avLst>
              <a:gd name="adj" fmla="val 3627"/>
            </a:avLst>
          </a:prstGeom>
          <a:solidFill>
            <a:srgbClr val="FEEFE7"/>
          </a:solidFill>
          <a:ln/>
        </p:spPr>
      </p:sp>
      <p:sp>
        <p:nvSpPr>
          <p:cNvPr id="17" name="Shape 14"/>
          <p:cNvSpPr/>
          <p:nvPr/>
        </p:nvSpPr>
        <p:spPr>
          <a:xfrm>
            <a:off x="8549640" y="2139696"/>
            <a:ext cx="603504" cy="603504"/>
          </a:xfrm>
          <a:prstGeom prst="ellipse">
            <a:avLst/>
          </a:prstGeom>
          <a:solidFill>
            <a:srgbClr val="F46717"/>
          </a:solidFill>
          <a:ln/>
        </p:spPr>
      </p:sp>
      <p:sp>
        <p:nvSpPr>
          <p:cNvPr id="18" name="Text 15"/>
          <p:cNvSpPr/>
          <p:nvPr/>
        </p:nvSpPr>
        <p:spPr>
          <a:xfrm>
            <a:off x="8549640" y="21396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49640" y="29260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예술교육 기반 구축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567928" y="3749040"/>
            <a:ext cx="281635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2300"/>
              </a:lnSpc>
              <a:buSzPct val="100000"/>
              <a:buChar char="∙"/>
            </a:pPr>
            <a:r>
              <a:rPr lang="en-US" sz="11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악기뱅크 2.0 확대 운영</a:t>
            </a:r>
            <a:endParaRPr lang="en-US" sz="1150" dirty="0"/>
          </a:p>
          <a:p>
            <a:pPr marL="152400" indent="-152400">
              <a:lnSpc>
                <a:spcPts val="2300"/>
              </a:lnSpc>
              <a:buSzPct val="100000"/>
              <a:buChar char="∙"/>
            </a:pPr>
            <a:r>
              <a:rPr lang="en-US" sz="11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유휴 악기 재배치 시스템</a:t>
            </a:r>
            <a:endParaRPr lang="en-US" sz="1150" dirty="0"/>
          </a:p>
          <a:p>
            <a:pPr marL="152400" indent="-152400">
              <a:lnSpc>
                <a:spcPts val="2300"/>
              </a:lnSpc>
              <a:buSzPct val="100000"/>
              <a:buChar char="∙"/>
            </a:pPr>
            <a:r>
              <a:rPr lang="en-US" sz="11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관리·환류 체계 정착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세부 계획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절차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1208" y="131673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추진 프로세스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1600200" cy="1600200"/>
          </a:xfrm>
          <a:prstGeom prst="ellipse">
            <a:avLst/>
          </a:prstGeom>
          <a:solidFill>
            <a:srgbClr val="50B5EB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" y="4023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수립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" y="44622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 수립</a:t>
            </a:r>
            <a:endParaRPr lang="en-US" sz="11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대상교 수요 조사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26893" y="2802636"/>
            <a:ext cx="329184" cy="292608"/>
          </a:xfrm>
          <a:prstGeom prst="chevron">
            <a:avLst/>
          </a:prstGeom>
          <a:solidFill>
            <a:srgbClr val="C9CDD2"/>
          </a:solidFill>
          <a:ln/>
        </p:spPr>
      </p:sp>
      <p:sp>
        <p:nvSpPr>
          <p:cNvPr id="11" name="Shape 8"/>
          <p:cNvSpPr/>
          <p:nvPr/>
        </p:nvSpPr>
        <p:spPr>
          <a:xfrm>
            <a:off x="3698138" y="2148840"/>
            <a:ext cx="1600200" cy="1600200"/>
          </a:xfrm>
          <a:prstGeom prst="ellipse">
            <a:avLst/>
          </a:prstGeom>
          <a:solidFill>
            <a:srgbClr val="5C64B7"/>
          </a:solidFill>
          <a:ln/>
        </p:spPr>
      </p:sp>
      <p:sp>
        <p:nvSpPr>
          <p:cNvPr id="12" name="Text 9"/>
          <p:cNvSpPr/>
          <p:nvPr/>
        </p:nvSpPr>
        <p:spPr>
          <a:xfrm>
            <a:off x="3698138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32378" y="4023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공모·선정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3286658" y="44622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공모 안내</a:t>
            </a:r>
            <a:endParaRPr lang="en-US" sz="11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및 대상 확정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22112" y="2802636"/>
            <a:ext cx="329184" cy="292608"/>
          </a:xfrm>
          <a:prstGeom prst="chevron">
            <a:avLst/>
          </a:prstGeom>
          <a:solidFill>
            <a:srgbClr val="C9CDD2"/>
          </a:solidFill>
          <a:ln/>
        </p:spPr>
      </p:sp>
      <p:sp>
        <p:nvSpPr>
          <p:cNvPr id="16" name="Shape 13"/>
          <p:cNvSpPr/>
          <p:nvPr/>
        </p:nvSpPr>
        <p:spPr>
          <a:xfrm>
            <a:off x="6893357" y="2148840"/>
            <a:ext cx="1600200" cy="1600200"/>
          </a:xfrm>
          <a:prstGeom prst="ellipse">
            <a:avLst/>
          </a:prstGeom>
          <a:solidFill>
            <a:srgbClr val="F132A3"/>
          </a:solidFill>
          <a:ln/>
        </p:spPr>
      </p:sp>
      <p:sp>
        <p:nvSpPr>
          <p:cNvPr id="17" name="Text 14"/>
          <p:cNvSpPr/>
          <p:nvPr/>
        </p:nvSpPr>
        <p:spPr>
          <a:xfrm>
            <a:off x="6893357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27597" y="4023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지원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481877" y="44622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교부</a:t>
            </a:r>
            <a:endParaRPr lang="en-US" sz="11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컨설팅·모니터링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117330" y="2802636"/>
            <a:ext cx="329184" cy="292608"/>
          </a:xfrm>
          <a:prstGeom prst="chevron">
            <a:avLst/>
          </a:prstGeom>
          <a:solidFill>
            <a:srgbClr val="C9CDD2"/>
          </a:solidFill>
          <a:ln/>
        </p:spPr>
      </p:sp>
      <p:sp>
        <p:nvSpPr>
          <p:cNvPr id="21" name="Shape 18"/>
          <p:cNvSpPr/>
          <p:nvPr/>
        </p:nvSpPr>
        <p:spPr>
          <a:xfrm>
            <a:off x="10088575" y="2148840"/>
            <a:ext cx="1600200" cy="1600200"/>
          </a:xfrm>
          <a:prstGeom prst="ellipse">
            <a:avLst/>
          </a:prstGeom>
          <a:solidFill>
            <a:srgbClr val="F46717"/>
          </a:solidFill>
          <a:ln/>
        </p:spPr>
      </p:sp>
      <p:sp>
        <p:nvSpPr>
          <p:cNvPr id="22" name="Text 19"/>
          <p:cNvSpPr/>
          <p:nvPr/>
        </p:nvSpPr>
        <p:spPr>
          <a:xfrm>
            <a:off x="10088575" y="2606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722815" y="4023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환류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9677095" y="446227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보고회</a:t>
            </a:r>
            <a:endParaRPr lang="en-US" sz="11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차년도 계획 반영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02920" y="5257800"/>
            <a:ext cx="11183112" cy="713232"/>
          </a:xfrm>
          <a:prstGeom prst="roundRect">
            <a:avLst>
              <a:gd name="adj" fmla="val 15385"/>
            </a:avLst>
          </a:prstGeom>
          <a:solidFill>
            <a:srgbClr val="E6EDF1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5257800"/>
            <a:ext cx="10424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기간  </a:t>
            </a:r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3. ~ 2027. 2.  |  단계별 세부 일정은 여건에 따라 조정 가능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현황 진단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현황 지표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1208" y="131673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수치 중심의 데이터 슬라이드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3977640" cy="4160520"/>
          </a:xfrm>
          <a:prstGeom prst="roundRect">
            <a:avLst>
              <a:gd name="adj" fmla="val 3218"/>
            </a:avLst>
          </a:prstGeom>
          <a:solidFill>
            <a:srgbClr val="064976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3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지원 예산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B1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377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백만원</a:t>
            </a:r>
            <a:endParaRPr lang="en-US" sz="6000" dirty="0"/>
          </a:p>
        </p:txBody>
      </p:sp>
      <p:sp>
        <p:nvSpPr>
          <p:cNvPr id="9" name="Shape 6"/>
          <p:cNvSpPr/>
          <p:nvPr/>
        </p:nvSpPr>
        <p:spPr>
          <a:xfrm>
            <a:off x="868680" y="3977640"/>
            <a:ext cx="3154680" cy="0"/>
          </a:xfrm>
          <a:prstGeom prst="line">
            <a:avLst/>
          </a:prstGeom>
          <a:noFill/>
          <a:ln w="12700">
            <a:solidFill>
              <a:srgbClr val="2A6B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206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대비 12% 증액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9FC3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예술교육 기반 확충 중점 투자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54880" y="1783080"/>
            <a:ext cx="3374136" cy="1956816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65776" y="2112264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50B5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212</a:t>
            </a:r>
            <a:pPr indent="0" marL="0">
              <a:buNone/>
            </a:pPr>
            <a:r>
              <a:rPr lang="en-US" sz="13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5084064" y="2953512"/>
            <a:ext cx="2825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대상 학교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57616" y="1783080"/>
            <a:ext cx="3374136" cy="1956816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68512" y="2112264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5C64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pPr indent="0" marL="0">
              <a:buNone/>
            </a:pPr>
            <a:r>
              <a:rPr lang="en-US" sz="13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8686800" y="2953512"/>
            <a:ext cx="2825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악기뱅크 참여교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754880" y="3986784"/>
            <a:ext cx="3374136" cy="1956816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65776" y="4315968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32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1,847</a:t>
            </a:r>
            <a:pPr indent="0" marL="0">
              <a:buNone/>
            </a:pPr>
            <a:r>
              <a:rPr lang="en-US" sz="13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</a:t>
            </a:r>
            <a:endParaRPr lang="en-US" sz="3300" dirty="0"/>
          </a:p>
        </p:txBody>
      </p:sp>
      <p:sp>
        <p:nvSpPr>
          <p:cNvPr id="19" name="Text 16"/>
          <p:cNvSpPr/>
          <p:nvPr/>
        </p:nvSpPr>
        <p:spPr>
          <a:xfrm>
            <a:off x="5084064" y="5157216"/>
            <a:ext cx="2825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참여 학생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357616" y="3986784"/>
            <a:ext cx="3374136" cy="1956816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68512" y="4315968"/>
            <a:ext cx="2825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6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94.2</a:t>
            </a:r>
            <a:pPr indent="0" marL="0">
              <a:buNone/>
            </a:pPr>
            <a:r>
              <a:rPr lang="en-US" sz="13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%</a:t>
            </a:r>
            <a:endParaRPr lang="en-US" sz="3300" dirty="0"/>
          </a:p>
        </p:txBody>
      </p:sp>
      <p:sp>
        <p:nvSpPr>
          <p:cNvPr id="22" name="Text 19"/>
          <p:cNvSpPr/>
          <p:nvPr/>
        </p:nvSpPr>
        <p:spPr>
          <a:xfrm>
            <a:off x="8686800" y="5157216"/>
            <a:ext cx="2825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만족도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세부 계획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세부 추진 일정 및 예산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1208" y="131673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기반 정리형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83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056632"/>
                <a:gridCol w="1737360"/>
                <a:gridCol w="164592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추진 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예산(백만원)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97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기본계획 수립 및 공문 시행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2026. 3.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문화교육팀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대상교 공모 및 심사·선정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2026. 4.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문화교육팀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학교별 프로그램 운영 지원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5.~11.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점검 및 컨설팅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2026. 8.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문화교육팀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 보고회 및 정산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2026. 12.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21208" y="5577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예산은 편성(안) 기준이며 최종 배정액에 따라 조정될 수 있음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세부 계획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추진 일정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1208" y="131673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타임라인형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14400" y="3831336"/>
            <a:ext cx="10332720" cy="0"/>
          </a:xfrm>
          <a:prstGeom prst="line">
            <a:avLst/>
          </a:prstGeom>
          <a:noFill/>
          <a:ln w="31750">
            <a:solidFill>
              <a:srgbClr val="D8DB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" y="3703320"/>
            <a:ext cx="256032" cy="256032"/>
          </a:xfrm>
          <a:prstGeom prst="ellipse">
            <a:avLst/>
          </a:prstGeom>
          <a:solidFill>
            <a:srgbClr val="50B5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" y="3136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0B5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" y="414223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 수립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공고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52928" y="3703320"/>
            <a:ext cx="256032" cy="256032"/>
          </a:xfrm>
          <a:prstGeom prst="ellipse">
            <a:avLst/>
          </a:prstGeom>
          <a:solidFill>
            <a:srgbClr val="5C64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57984" y="3136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C64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112264" y="414223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대상교 선정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교부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19472" y="3703320"/>
            <a:ext cx="256032" cy="256032"/>
          </a:xfrm>
          <a:prstGeom prst="ellipse">
            <a:avLst/>
          </a:prstGeom>
          <a:solidFill>
            <a:srgbClr val="F132A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24528" y="3136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132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5~7월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78808" y="414223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1학기 운영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찾아가는 프로그램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86016" y="3703320"/>
            <a:ext cx="256032" cy="256032"/>
          </a:xfrm>
          <a:prstGeom prst="ellipse">
            <a:avLst/>
          </a:prstGeom>
          <a:solidFill>
            <a:srgbClr val="F467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91072" y="3136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67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245352" y="414223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점검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컨설팅 실시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52560" y="3703320"/>
            <a:ext cx="256032" cy="256032"/>
          </a:xfrm>
          <a:prstGeom prst="ellipse">
            <a:avLst/>
          </a:prstGeom>
          <a:solidFill>
            <a:srgbClr val="FAB10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57616" y="3136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98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9~11월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311896" y="414223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2학기 운영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축적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1119104" y="3703320"/>
            <a:ext cx="256032" cy="256032"/>
          </a:xfrm>
          <a:prstGeom prst="ellipse">
            <a:avLst/>
          </a:prstGeom>
          <a:solidFill>
            <a:srgbClr val="06497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424160" y="3136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0378440" y="414223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A3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보고회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정산·환류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539496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연중  |  홍보·모니터링·안전 관리 상시 운영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추진 목표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5대 지향과 사업 연계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1208" y="131673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체계 꽃잎 모티프 — 도형·텍스트 모두 수정 가능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956048" y="1261872"/>
            <a:ext cx="2286000" cy="2286000"/>
          </a:xfrm>
          <a:prstGeom prst="ellipse">
            <a:avLst/>
          </a:prstGeom>
          <a:solidFill>
            <a:srgbClr val="EDF7FD"/>
          </a:solidFill>
          <a:ln/>
        </p:spPr>
      </p:sp>
      <p:sp>
        <p:nvSpPr>
          <p:cNvPr id="7" name="Text 4"/>
          <p:cNvSpPr/>
          <p:nvPr/>
        </p:nvSpPr>
        <p:spPr>
          <a:xfrm>
            <a:off x="4956048" y="1901952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44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삶의 뿌리
</a:t>
            </a:r>
            <a:pPr algn="ct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44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학력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139729" y="2285444"/>
            <a:ext cx="2286000" cy="2286000"/>
          </a:xfrm>
          <a:prstGeom prst="ellipse">
            <a:avLst/>
          </a:prstGeom>
          <a:solidFill>
            <a:srgbClr val="EFF0F8"/>
          </a:solidFill>
          <a:ln/>
        </p:spPr>
      </p:sp>
      <p:sp>
        <p:nvSpPr>
          <p:cNvPr id="9" name="Text 6"/>
          <p:cNvSpPr/>
          <p:nvPr/>
        </p:nvSpPr>
        <p:spPr>
          <a:xfrm>
            <a:off x="7139729" y="2925524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358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모두의 성공
</a:t>
            </a:r>
            <a:pPr algn="ct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58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빛나는 진로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5637" y="3941620"/>
            <a:ext cx="2286000" cy="2286000"/>
          </a:xfrm>
          <a:prstGeom prst="ellipse">
            <a:avLst/>
          </a:prstGeom>
          <a:solidFill>
            <a:srgbClr val="FEF7E6"/>
          </a:solidFill>
          <a:ln/>
        </p:spPr>
      </p:sp>
      <p:sp>
        <p:nvSpPr>
          <p:cNvPr id="11" name="Text 8"/>
          <p:cNvSpPr/>
          <p:nvPr/>
        </p:nvSpPr>
        <p:spPr>
          <a:xfrm>
            <a:off x="6305637" y="45817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F469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모두를 품는
</a:t>
            </a:r>
            <a:pPr algn="ct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469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포용교육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06459" y="3941620"/>
            <a:ext cx="2286000" cy="2286000"/>
          </a:xfrm>
          <a:prstGeom prst="ellipse">
            <a:avLst/>
          </a:prstGeom>
          <a:solidFill>
            <a:srgbClr val="FEEBF6"/>
          </a:solidFill>
          <a:ln/>
        </p:spPr>
      </p:sp>
      <p:sp>
        <p:nvSpPr>
          <p:cNvPr id="13" name="Text 10"/>
          <p:cNvSpPr/>
          <p:nvPr/>
        </p:nvSpPr>
        <p:spPr>
          <a:xfrm>
            <a:off x="3606459" y="45817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F13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세상을 위한
</a:t>
            </a:r>
            <a:pPr algn="ct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13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미래교육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772367" y="2285444"/>
            <a:ext cx="2286000" cy="2286000"/>
          </a:xfrm>
          <a:prstGeom prst="ellipse">
            <a:avLst/>
          </a:prstGeom>
          <a:solidFill>
            <a:srgbClr val="E6EDF1"/>
          </a:solidFill>
          <a:ln/>
        </p:spPr>
      </p:sp>
      <p:sp>
        <p:nvSpPr>
          <p:cNvPr id="15" name="Text 12"/>
          <p:cNvSpPr/>
          <p:nvPr/>
        </p:nvSpPr>
        <p:spPr>
          <a:xfrm>
            <a:off x="2772367" y="2925524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00AA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성장하는
</a:t>
            </a:r>
            <a:pPr algn="ct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0AA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교육공동체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230368" y="3017520"/>
            <a:ext cx="1737360" cy="1737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17" name="symbol_centered" descr="assets/symbol_cen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3227832"/>
            <a:ext cx="1316736" cy="13167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추진 목표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강원교육 비전 체계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1208" y="131673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좌: BI 매뉴얼 원본  |  우: 수정 가능한 편집형</a:t>
            </a:r>
            <a:endParaRPr lang="en-US" sz="1200" dirty="0"/>
          </a:p>
        </p:txBody>
      </p:sp>
      <p:pic>
        <p:nvPicPr>
          <p:cNvPr id="6" name="vision_flower" descr="assets/vision_fl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4341071" cy="4206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52160" y="2057400"/>
            <a:ext cx="580644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2F4BA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852160" y="2057400"/>
            <a:ext cx="1417320" cy="658368"/>
          </a:xfrm>
          <a:prstGeom prst="roundRect">
            <a:avLst>
              <a:gd name="adj" fmla="val 50000"/>
            </a:avLst>
          </a:prstGeom>
          <a:solidFill>
            <a:srgbClr val="2F4BA7"/>
          </a:solidFill>
          <a:ln/>
        </p:spPr>
      </p:sp>
      <p:sp>
        <p:nvSpPr>
          <p:cNvPr id="9" name="Text 5"/>
          <p:cNvSpPr/>
          <p:nvPr/>
        </p:nvSpPr>
        <p:spPr>
          <a:xfrm>
            <a:off x="5852160" y="205740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60920" y="20574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모두가 빛나는 강원교육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852160" y="2971800"/>
            <a:ext cx="580644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F2527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852160" y="2971800"/>
            <a:ext cx="1417320" cy="658368"/>
          </a:xfrm>
          <a:prstGeom prst="roundRect">
            <a:avLst>
              <a:gd name="adj" fmla="val 50000"/>
            </a:avLst>
          </a:prstGeom>
          <a:solidFill>
            <a:srgbClr val="F2527A"/>
          </a:solidFill>
          <a:ln/>
        </p:spPr>
      </p:sp>
      <p:sp>
        <p:nvSpPr>
          <p:cNvPr id="13" name="Text 9"/>
          <p:cNvSpPr/>
          <p:nvPr/>
        </p:nvSpPr>
        <p:spPr>
          <a:xfrm>
            <a:off x="5852160" y="297180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60920" y="29718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모두의 학교 특별한 교육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852160" y="3886200"/>
            <a:ext cx="580644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06497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52160" y="3886200"/>
            <a:ext cx="1417320" cy="658368"/>
          </a:xfrm>
          <a:prstGeom prst="roundRect">
            <a:avLst>
              <a:gd name="adj" fmla="val 50000"/>
            </a:avLst>
          </a:prstGeom>
          <a:solidFill>
            <a:srgbClr val="064976"/>
          </a:solidFill>
          <a:ln/>
        </p:spPr>
      </p:sp>
      <p:sp>
        <p:nvSpPr>
          <p:cNvPr id="17" name="Text 13"/>
          <p:cNvSpPr/>
          <p:nvPr/>
        </p:nvSpPr>
        <p:spPr>
          <a:xfrm>
            <a:off x="5852160" y="388620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360920" y="38862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과제·목표를 입력하세요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897880" y="4800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알약형 도형은 텍스트·색상 수정 및 복사·추가 가능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897880" y="512064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좌측 체계도는 BI 매뉴얼 원본 이미지(교체·크기 조정 가능)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03120" y="-2377440"/>
            <a:ext cx="5120640" cy="5120640"/>
          </a:xfrm>
          <a:prstGeom prst="ellipse">
            <a:avLst/>
          </a:prstGeom>
          <a:solidFill>
            <a:srgbClr val="EDF7F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97680"/>
            <a:ext cx="4754880" cy="4754880"/>
          </a:xfrm>
          <a:prstGeom prst="ellipse">
            <a:avLst/>
          </a:prstGeom>
          <a:solidFill>
            <a:srgbClr val="FEF7E6"/>
          </a:solidFill>
          <a:ln/>
        </p:spPr>
      </p:sp>
      <p:pic>
        <p:nvPicPr>
          <p:cNvPr id="4" name="wordmark_1line" descr="assets/wordmark_1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1392" y="1828800"/>
            <a:ext cx="4288912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84248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1F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메시지를 입력하세요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2441448" y="39319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일상이 예술이 되는 교실, 예술로 깊어지는 강원교육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28920" y="4709160"/>
            <a:ext cx="91440" cy="91440"/>
          </a:xfrm>
          <a:prstGeom prst="ellipse">
            <a:avLst/>
          </a:prstGeom>
          <a:solidFill>
            <a:srgbClr val="50B5EB"/>
          </a:solidFill>
          <a:ln/>
        </p:spPr>
      </p:sp>
      <p:sp>
        <p:nvSpPr>
          <p:cNvPr id="8" name="Shape 5"/>
          <p:cNvSpPr/>
          <p:nvPr/>
        </p:nvSpPr>
        <p:spPr>
          <a:xfrm>
            <a:off x="5766664" y="4709160"/>
            <a:ext cx="91440" cy="91440"/>
          </a:xfrm>
          <a:prstGeom prst="ellipse">
            <a:avLst/>
          </a:prstGeom>
          <a:solidFill>
            <a:srgbClr val="5C64B7"/>
          </a:solidFill>
          <a:ln/>
        </p:spPr>
      </p:sp>
      <p:sp>
        <p:nvSpPr>
          <p:cNvPr id="9" name="Shape 6"/>
          <p:cNvSpPr/>
          <p:nvPr/>
        </p:nvSpPr>
        <p:spPr>
          <a:xfrm>
            <a:off x="6004408" y="4709160"/>
            <a:ext cx="91440" cy="91440"/>
          </a:xfrm>
          <a:prstGeom prst="ellipse">
            <a:avLst/>
          </a:prstGeom>
          <a:solidFill>
            <a:srgbClr val="F132A3"/>
          </a:solidFill>
          <a:ln/>
        </p:spPr>
      </p:sp>
      <p:sp>
        <p:nvSpPr>
          <p:cNvPr id="10" name="Shape 7"/>
          <p:cNvSpPr/>
          <p:nvPr/>
        </p:nvSpPr>
        <p:spPr>
          <a:xfrm>
            <a:off x="6242152" y="4709160"/>
            <a:ext cx="91440" cy="91440"/>
          </a:xfrm>
          <a:prstGeom prst="ellipse">
            <a:avLst/>
          </a:prstGeom>
          <a:solidFill>
            <a:srgbClr val="F46717"/>
          </a:solidFill>
          <a:ln/>
        </p:spPr>
      </p:sp>
      <p:sp>
        <p:nvSpPr>
          <p:cNvPr id="11" name="Shape 8"/>
          <p:cNvSpPr/>
          <p:nvPr/>
        </p:nvSpPr>
        <p:spPr>
          <a:xfrm>
            <a:off x="6479896" y="4709160"/>
            <a:ext cx="91440" cy="91440"/>
          </a:xfrm>
          <a:prstGeom prst="ellipse">
            <a:avLst/>
          </a:prstGeom>
          <a:solidFill>
            <a:srgbClr val="FAB10A"/>
          </a:solidFill>
          <a:ln/>
        </p:spPr>
      </p:sp>
      <p:sp>
        <p:nvSpPr>
          <p:cNvPr id="12" name="Text 9"/>
          <p:cNvSpPr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 에셋 라이브러리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1208" y="131673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로고를 복사(Ctrl+C)하여 다른 슬라이드에 활용 — 모두 투명 배경 PNG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54864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7" name="sig_symbol_typo" descr="assets/sig_symbol_ty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216" y="1993392"/>
            <a:ext cx="298580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706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시그니처 (심벌+타이포)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172200" y="1737360"/>
            <a:ext cx="551383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10" name="wordmark_1line" descr="assets/wordmark_1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775" y="1929384"/>
            <a:ext cx="2830682" cy="6035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2200" y="2706624"/>
            <a:ext cx="5513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타이포그래피 단독 (1행)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02920" y="320040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13" name="emblem_color" descr="assets/emblem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831" y="3502152"/>
            <a:ext cx="1627938" cy="1737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2920" y="55229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엠블럼 (기본)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3319272" y="320040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16" name="emblem_navy" descr="assets/emblem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8209" y="3525012"/>
            <a:ext cx="1693887" cy="1691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319272" y="55229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엠블럼 (남색 단색)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6135624" y="320040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19" name="emblem_orange" descr="assets/emblem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561" y="3525012"/>
            <a:ext cx="1693887" cy="16916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35624" y="55229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엠블럼 (주황 단색)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8951976" y="3200400"/>
            <a:ext cx="273405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22" name="symbol" descr="assets/symbo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7263" y="3502152"/>
            <a:ext cx="1623483" cy="17373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951976" y="5522976"/>
            <a:ext cx="2734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심벌 단독</a:t>
            </a:r>
            <a:endParaRPr lang="en-US" sz="950" dirty="0"/>
          </a:p>
        </p:txBody>
      </p:sp>
      <p:sp>
        <p:nvSpPr>
          <p:cNvPr id="24" name="Text 15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g_symbol_typo" descr="assets/sig_symbol_typ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10896"/>
            <a:ext cx="1722582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310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 에셋 라이브러리 II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1208" y="1316736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 변형·흑백·세로형 — 복사하여 활용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36027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7" name="sig_v1" descr="assets/sig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54" y="1879092"/>
            <a:ext cx="1193869" cy="1417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3419856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조합 1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288536" y="1737360"/>
            <a:ext cx="36027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10" name="sig_v2" descr="assets/sig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990" y="1856232"/>
            <a:ext cx="649827" cy="1463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88536" y="3419856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조합 2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8083296" y="1737360"/>
            <a:ext cx="36027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13" name="wordmark_2line" descr="assets/wordmark_2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5297" y="1970532"/>
            <a:ext cx="2058734" cy="12344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83296" y="3419856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타이포그래피 (2행)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502920" y="3931920"/>
            <a:ext cx="36027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16" name="sig_main" descr="assets/sig_m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450" y="4005072"/>
            <a:ext cx="1451675" cy="1554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2920" y="5614416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시그니처 (세로)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4288536" y="3931920"/>
            <a:ext cx="36027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19" name="sig_sub" descr="assets/sig_s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900" y="4005072"/>
            <a:ext cx="1460009" cy="15544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288536" y="5614416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시그니처 (흑백)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8083296" y="3931920"/>
            <a:ext cx="36027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pic>
        <p:nvPicPr>
          <p:cNvPr id="22" name="sig_h" descr="assets/sig_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5042" y="4256532"/>
            <a:ext cx="3059244" cy="10515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083296" y="5614416"/>
            <a:ext cx="3602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조합 변경</a:t>
            </a:r>
            <a:endParaRPr lang="en-US" sz="950" dirty="0"/>
          </a:p>
        </p:txBody>
      </p:sp>
      <p:sp>
        <p:nvSpPr>
          <p:cNvPr id="24" name="Text 15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11430000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PIN_SYMBOL" descr="assets/symbol_cente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9968" y="960120"/>
            <a:ext cx="2651760" cy="2651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3048" y="3977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4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2898648" y="4892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8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일상이 예술이 되는 교실, 예술로 깊어지는 강원교육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49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5648" y="914400"/>
            <a:ext cx="3200400" cy="3200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symbol_centered" descr="assets/symbol_cente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9696" y="1298448"/>
            <a:ext cx="2432304" cy="2432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3048" y="4434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813048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FD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모두가 </a:t>
            </a:r>
            <a:pPr algn="ctr" indent="0" marL="0">
              <a:buNone/>
            </a:pPr>
            <a:r>
              <a:rPr lang="en-US" sz="1400" b="1" spc="200" kern="0" dirty="0">
                <a:solidFill>
                  <a:srgbClr val="FAB1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</a:t>
            </a:r>
            <a:pPr algn="ctr" indent="0" marL="0">
              <a:buNone/>
            </a:pPr>
            <a:r>
              <a:rPr lang="en-US" sz="1400" b="1" spc="200" kern="0" dirty="0">
                <a:solidFill>
                  <a:srgbClr val="BFD5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강원교육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A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강원특별자치도교육청 문화체육특수교육과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2026-07-05T06:29:45Z</dcterms:created>
  <dcterms:modified xsi:type="dcterms:W3CDTF">2026-07-05T06:29:45Z</dcterms:modified>
</cp:coreProperties>
</file>